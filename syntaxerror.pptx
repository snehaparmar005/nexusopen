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8288000" cy="10287000"/>
  <p:notesSz cx="18288000" cy="10287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Untitled Section" id="{692F707B-9CF5-4575-ABCC-7573EFEBA7D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0" clrIdx="0">
    <p:extLst>
      <p:ext uri="{19B8F6BF-5375-455C-9EA6-DF929625EA0E}">
        <p15:presenceInfo xmlns:p15="http://schemas.microsoft.com/office/powerpoint/2012/main" userId="H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3" autoAdjust="0"/>
    <p:restoredTop sz="94660"/>
  </p:normalViewPr>
  <p:slideViewPr>
    <p:cSldViewPr>
      <p:cViewPr varScale="1">
        <p:scale>
          <a:sx n="43" d="100"/>
          <a:sy n="43" d="100"/>
        </p:scale>
        <p:origin x="966" y="4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616258-1926-44BA-A00E-BE462D7E05AC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571560-0DE1-45D1-970A-F113B97654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768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571560-0DE1-45D1-970A-F113B976545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7876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571560-0DE1-45D1-970A-F113B976545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582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86861" y="217742"/>
            <a:ext cx="6514465" cy="8940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03127" y="3308166"/>
            <a:ext cx="8277859" cy="2778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jp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629" y="119561"/>
            <a:ext cx="1447799" cy="14477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959224" y="3957518"/>
            <a:ext cx="1343025" cy="628650"/>
            <a:chOff x="10959224" y="3957518"/>
            <a:chExt cx="1343025" cy="62865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59224" y="3957518"/>
              <a:ext cx="973413" cy="6285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718979" y="3957518"/>
              <a:ext cx="583565" cy="628650"/>
            </a:xfrm>
            <a:custGeom>
              <a:avLst/>
              <a:gdLst/>
              <a:ahLst/>
              <a:cxnLst/>
              <a:rect l="l" t="t" r="r" b="b"/>
              <a:pathLst>
                <a:path w="583565" h="628650">
                  <a:moveTo>
                    <a:pt x="265346" y="628587"/>
                  </a:moveTo>
                  <a:lnTo>
                    <a:pt x="0" y="628587"/>
                  </a:lnTo>
                  <a:lnTo>
                    <a:pt x="318185" y="308310"/>
                  </a:lnTo>
                  <a:lnTo>
                    <a:pt x="0" y="0"/>
                  </a:lnTo>
                  <a:lnTo>
                    <a:pt x="276486" y="0"/>
                  </a:lnTo>
                  <a:lnTo>
                    <a:pt x="583157" y="308686"/>
                  </a:lnTo>
                  <a:lnTo>
                    <a:pt x="265346" y="628587"/>
                  </a:lnTo>
                  <a:close/>
                </a:path>
              </a:pathLst>
            </a:custGeom>
            <a:solidFill>
              <a:srgbClr val="C162A6">
                <a:alpha val="3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72415" y="3313176"/>
            <a:ext cx="4096511" cy="1898903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2519593" y="3472530"/>
            <a:ext cx="3836035" cy="1459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400" b="0" spc="-215" dirty="0">
                <a:solidFill>
                  <a:srgbClr val="FEFEFE"/>
                </a:solidFill>
                <a:latin typeface="Lucida Sans Unicode"/>
                <a:cs typeface="Lucida Sans Unicode"/>
              </a:rPr>
              <a:t>H</a:t>
            </a:r>
            <a:r>
              <a:rPr sz="9400" b="0" spc="-1300" dirty="0">
                <a:solidFill>
                  <a:srgbClr val="FEFEFE"/>
                </a:solidFill>
                <a:latin typeface="Lucida Sans Unicode"/>
                <a:cs typeface="Lucida Sans Unicode"/>
              </a:rPr>
              <a:t> </a:t>
            </a:r>
            <a:r>
              <a:rPr sz="9400" b="0" spc="-70" dirty="0">
                <a:solidFill>
                  <a:srgbClr val="FEFEFE"/>
                </a:solidFill>
                <a:latin typeface="Lucida Sans Unicode"/>
                <a:cs typeface="Lucida Sans Unicode"/>
              </a:rPr>
              <a:t>A</a:t>
            </a:r>
            <a:r>
              <a:rPr sz="9400" b="0" spc="-1295" dirty="0">
                <a:solidFill>
                  <a:srgbClr val="FEFEFE"/>
                </a:solidFill>
                <a:latin typeface="Lucida Sans Unicode"/>
                <a:cs typeface="Lucida Sans Unicode"/>
              </a:rPr>
              <a:t> </a:t>
            </a:r>
            <a:r>
              <a:rPr sz="9400" b="0" spc="-1495" dirty="0">
                <a:solidFill>
                  <a:srgbClr val="FEFEFE"/>
                </a:solidFill>
                <a:latin typeface="Lucida Sans Unicode"/>
                <a:cs typeface="Lucida Sans Unicode"/>
              </a:rPr>
              <a:t>Ġ</a:t>
            </a:r>
            <a:r>
              <a:rPr sz="9400" b="0" spc="-1295" dirty="0">
                <a:solidFill>
                  <a:srgbClr val="FEFEFE"/>
                </a:solidFill>
                <a:latin typeface="Lucida Sans Unicode"/>
                <a:cs typeface="Lucida Sans Unicode"/>
              </a:rPr>
              <a:t> </a:t>
            </a:r>
            <a:r>
              <a:rPr sz="9400" b="0" spc="195" dirty="0">
                <a:solidFill>
                  <a:srgbClr val="FEFEFE"/>
                </a:solidFill>
                <a:latin typeface="Lucida Sans Unicode"/>
                <a:cs typeface="Lucida Sans Unicode"/>
              </a:rPr>
              <a:t>K</a:t>
            </a:r>
            <a:endParaRPr sz="9400" dirty="0">
              <a:latin typeface="Lucida Sans Unicode"/>
              <a:cs typeface="Lucida Sans Unicode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04703" y="4453127"/>
            <a:ext cx="8083295" cy="214274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759352" y="4617281"/>
            <a:ext cx="7356475" cy="1610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400" spc="390" dirty="0">
                <a:solidFill>
                  <a:srgbClr val="F1B5E3"/>
                </a:solidFill>
                <a:latin typeface="Arial MT"/>
                <a:cs typeface="Arial MT"/>
              </a:rPr>
              <a:t>S</a:t>
            </a:r>
            <a:r>
              <a:rPr sz="10400" spc="1305" dirty="0">
                <a:solidFill>
                  <a:srgbClr val="F1B5E3"/>
                </a:solidFill>
                <a:latin typeface="Arial MT"/>
                <a:cs typeface="Arial MT"/>
              </a:rPr>
              <a:t>Y</a:t>
            </a:r>
            <a:r>
              <a:rPr sz="10400" spc="1215" dirty="0">
                <a:solidFill>
                  <a:srgbClr val="F1B5E3"/>
                </a:solidFill>
                <a:latin typeface="Arial MT"/>
                <a:cs typeface="Arial MT"/>
              </a:rPr>
              <a:t>N</a:t>
            </a:r>
            <a:r>
              <a:rPr sz="10400" spc="1310" dirty="0">
                <a:solidFill>
                  <a:srgbClr val="F1B5E3"/>
                </a:solidFill>
                <a:latin typeface="Arial MT"/>
                <a:cs typeface="Arial MT"/>
              </a:rPr>
              <a:t>A</a:t>
            </a:r>
            <a:r>
              <a:rPr sz="10400" spc="1365" dirty="0">
                <a:solidFill>
                  <a:srgbClr val="F1B5E3"/>
                </a:solidFill>
                <a:latin typeface="Arial MT"/>
                <a:cs typeface="Arial MT"/>
              </a:rPr>
              <a:t>PS</a:t>
            </a:r>
            <a:r>
              <a:rPr sz="10400" spc="1370" dirty="0">
                <a:solidFill>
                  <a:srgbClr val="F1B5E3"/>
                </a:solidFill>
                <a:latin typeface="Arial MT"/>
                <a:cs typeface="Arial MT"/>
              </a:rPr>
              <a:t>E</a:t>
            </a:r>
            <a:endParaRPr sz="10400" dirty="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6673359" y="3957518"/>
            <a:ext cx="1343025" cy="628650"/>
            <a:chOff x="16673359" y="3957518"/>
            <a:chExt cx="1343025" cy="62865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042858" y="3957518"/>
              <a:ext cx="973413" cy="62858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6673359" y="3957518"/>
              <a:ext cx="583565" cy="628650"/>
            </a:xfrm>
            <a:custGeom>
              <a:avLst/>
              <a:gdLst/>
              <a:ahLst/>
              <a:cxnLst/>
              <a:rect l="l" t="t" r="r" b="b"/>
              <a:pathLst>
                <a:path w="583565" h="628650">
                  <a:moveTo>
                    <a:pt x="317811" y="628587"/>
                  </a:moveTo>
                  <a:lnTo>
                    <a:pt x="583157" y="628587"/>
                  </a:lnTo>
                  <a:lnTo>
                    <a:pt x="264972" y="308310"/>
                  </a:lnTo>
                  <a:lnTo>
                    <a:pt x="583157" y="0"/>
                  </a:lnTo>
                  <a:lnTo>
                    <a:pt x="306671" y="0"/>
                  </a:lnTo>
                  <a:lnTo>
                    <a:pt x="0" y="308686"/>
                  </a:lnTo>
                  <a:lnTo>
                    <a:pt x="317811" y="628587"/>
                  </a:lnTo>
                  <a:close/>
                </a:path>
              </a:pathLst>
            </a:custGeom>
            <a:solidFill>
              <a:srgbClr val="C162A6">
                <a:alpha val="3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0" y="0"/>
            <a:ext cx="18288000" cy="1750695"/>
            <a:chOff x="0" y="0"/>
            <a:chExt cx="18288000" cy="175069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60817" y="426013"/>
              <a:ext cx="2838449" cy="8286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117647" y="345784"/>
              <a:ext cx="1695449" cy="8858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90823" y="426013"/>
              <a:ext cx="1559361" cy="79289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89865" y="1225436"/>
              <a:ext cx="1599005" cy="7928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099941" y="502510"/>
              <a:ext cx="2771774" cy="67627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31495" y="244436"/>
              <a:ext cx="1190625" cy="1189990"/>
            </a:xfrm>
            <a:custGeom>
              <a:avLst/>
              <a:gdLst/>
              <a:ahLst/>
              <a:cxnLst/>
              <a:rect l="l" t="t" r="r" b="b"/>
              <a:pathLst>
                <a:path w="1190625" h="1189990">
                  <a:moveTo>
                    <a:pt x="1190625" y="37134"/>
                  </a:moveTo>
                  <a:lnTo>
                    <a:pt x="1152702" y="37134"/>
                  </a:lnTo>
                  <a:lnTo>
                    <a:pt x="1152702" y="1152702"/>
                  </a:lnTo>
                  <a:lnTo>
                    <a:pt x="1190625" y="1152702"/>
                  </a:lnTo>
                  <a:lnTo>
                    <a:pt x="1190625" y="37134"/>
                  </a:lnTo>
                  <a:close/>
                </a:path>
                <a:path w="1190625" h="1189990">
                  <a:moveTo>
                    <a:pt x="1190625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0" y="1153160"/>
                  </a:lnTo>
                  <a:lnTo>
                    <a:pt x="0" y="1189990"/>
                  </a:lnTo>
                  <a:lnTo>
                    <a:pt x="1190625" y="1189990"/>
                  </a:lnTo>
                  <a:lnTo>
                    <a:pt x="1190625" y="1153160"/>
                  </a:lnTo>
                  <a:lnTo>
                    <a:pt x="37134" y="1153160"/>
                  </a:lnTo>
                  <a:lnTo>
                    <a:pt x="37134" y="36830"/>
                  </a:lnTo>
                  <a:lnTo>
                    <a:pt x="1190625" y="36830"/>
                  </a:lnTo>
                  <a:lnTo>
                    <a:pt x="1190625" y="0"/>
                  </a:lnTo>
                  <a:close/>
                </a:path>
              </a:pathLst>
            </a:custGeom>
            <a:solidFill>
              <a:srgbClr val="C7D0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0"/>
              <a:ext cx="18287999" cy="1750647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2020308" y="3207191"/>
            <a:ext cx="327406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b="1" spc="140" dirty="0">
                <a:solidFill>
                  <a:srgbClr val="FFFFFF"/>
                </a:solidFill>
                <a:latin typeface="Times New Roman"/>
                <a:cs typeface="Times New Roman"/>
              </a:rPr>
              <a:t>About</a:t>
            </a:r>
            <a:r>
              <a:rPr sz="4600" b="1" spc="-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600" b="1" spc="30" dirty="0">
                <a:solidFill>
                  <a:srgbClr val="FFFFFF"/>
                </a:solidFill>
                <a:latin typeface="Times New Roman"/>
                <a:cs typeface="Times New Roman"/>
              </a:rPr>
              <a:t>Team</a:t>
            </a:r>
            <a:endParaRPr sz="4600">
              <a:latin typeface="Times New Roman"/>
              <a:cs typeface="Times New Roman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80443" y="4806010"/>
            <a:ext cx="152400" cy="15239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80443" y="5548960"/>
            <a:ext cx="152400" cy="15239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51868" y="6263335"/>
            <a:ext cx="142875" cy="142874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1388319" y="4376115"/>
            <a:ext cx="9299178" cy="2845651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910"/>
              </a:spcBef>
            </a:pPr>
            <a:r>
              <a:rPr sz="4200" dirty="0">
                <a:solidFill>
                  <a:srgbClr val="FFFFFF"/>
                </a:solidFill>
                <a:latin typeface="Georgia"/>
                <a:cs typeface="Georgia"/>
              </a:rPr>
              <a:t>Team</a:t>
            </a:r>
            <a:r>
              <a:rPr sz="4200" spc="-1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00" spc="-10" dirty="0">
                <a:solidFill>
                  <a:srgbClr val="FFFFFF"/>
                </a:solidFill>
                <a:latin typeface="Georgia"/>
                <a:cs typeface="Georgia"/>
              </a:rPr>
              <a:t>Name:</a:t>
            </a:r>
            <a:r>
              <a:rPr lang="en-IN" sz="4200" spc="-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IN" sz="4200" b="1" spc="-10" dirty="0">
                <a:solidFill>
                  <a:srgbClr val="FF0000"/>
                </a:solidFill>
                <a:latin typeface="Georgia"/>
                <a:cs typeface="Georgia"/>
              </a:rPr>
              <a:t>syntax error</a:t>
            </a:r>
            <a:endParaRPr sz="4200" b="1" dirty="0">
              <a:solidFill>
                <a:srgbClr val="FF0000"/>
              </a:solidFill>
              <a:latin typeface="Georgia"/>
              <a:cs typeface="Georgia"/>
            </a:endParaRPr>
          </a:p>
          <a:p>
            <a:pPr marL="55880">
              <a:lnSpc>
                <a:spcPct val="100000"/>
              </a:lnSpc>
              <a:spcBef>
                <a:spcPts val="810"/>
              </a:spcBef>
            </a:pPr>
            <a:r>
              <a:rPr sz="4200" dirty="0">
                <a:solidFill>
                  <a:srgbClr val="FFFFFF"/>
                </a:solidFill>
                <a:latin typeface="Georgia"/>
                <a:cs typeface="Georgia"/>
              </a:rPr>
              <a:t>Team</a:t>
            </a:r>
            <a:r>
              <a:rPr sz="4200" spc="-2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00" dirty="0">
                <a:solidFill>
                  <a:srgbClr val="FFFFFF"/>
                </a:solidFill>
                <a:latin typeface="Georgia"/>
                <a:cs typeface="Georgia"/>
              </a:rPr>
              <a:t>Leader’s</a:t>
            </a:r>
            <a:r>
              <a:rPr sz="4200" spc="-2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00" spc="-10" dirty="0">
                <a:solidFill>
                  <a:srgbClr val="FFFFFF"/>
                </a:solidFill>
                <a:latin typeface="Georgia"/>
                <a:cs typeface="Georgia"/>
              </a:rPr>
              <a:t>Name:</a:t>
            </a:r>
            <a:r>
              <a:rPr lang="en-IN" sz="4200" spc="-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IN" sz="4200" spc="-10" dirty="0">
                <a:solidFill>
                  <a:srgbClr val="FFFF00"/>
                </a:solidFill>
                <a:latin typeface="Georgia"/>
                <a:cs typeface="Georgia"/>
              </a:rPr>
              <a:t>Sneha </a:t>
            </a:r>
            <a:r>
              <a:rPr lang="en-IN" sz="4200" spc="-10" dirty="0" err="1">
                <a:solidFill>
                  <a:srgbClr val="FFFF00"/>
                </a:solidFill>
                <a:latin typeface="Georgia"/>
                <a:cs typeface="Georgia"/>
              </a:rPr>
              <a:t>parmar</a:t>
            </a:r>
            <a:endParaRPr sz="4200" dirty="0">
              <a:solidFill>
                <a:srgbClr val="FFFF00"/>
              </a:solidFill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4000" dirty="0">
                <a:solidFill>
                  <a:srgbClr val="FFFFFF"/>
                </a:solidFill>
                <a:latin typeface="Georgia"/>
                <a:cs typeface="Georgia"/>
              </a:rPr>
              <a:t>Team</a:t>
            </a:r>
            <a:r>
              <a:rPr sz="4000" spc="-1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Georgia"/>
                <a:cs typeface="Georgia"/>
              </a:rPr>
              <a:t>Members:</a:t>
            </a:r>
            <a:r>
              <a:rPr lang="en-IN" sz="4000" spc="-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lang="en-IN" sz="4000" spc="-10" dirty="0" err="1">
                <a:solidFill>
                  <a:srgbClr val="FFFF00"/>
                </a:solidFill>
                <a:latin typeface="Georgia"/>
                <a:cs typeface="Georgia"/>
              </a:rPr>
              <a:t>samraddhi</a:t>
            </a:r>
            <a:r>
              <a:rPr lang="en-IN" sz="4000" spc="-10" dirty="0">
                <a:solidFill>
                  <a:srgbClr val="FFFF00"/>
                </a:solidFill>
                <a:latin typeface="Georgia"/>
                <a:cs typeface="Georgia"/>
              </a:rPr>
              <a:t> </a:t>
            </a:r>
            <a:r>
              <a:rPr lang="en-IN" sz="4000" spc="-10" dirty="0" err="1">
                <a:solidFill>
                  <a:srgbClr val="FFFF00"/>
                </a:solidFill>
                <a:latin typeface="Georgia"/>
                <a:cs typeface="Georgia"/>
              </a:rPr>
              <a:t>tomar</a:t>
            </a:r>
            <a:r>
              <a:rPr lang="en-IN" sz="4000" spc="-10" dirty="0">
                <a:solidFill>
                  <a:srgbClr val="FFFF00"/>
                </a:solidFill>
                <a:latin typeface="Georgia"/>
                <a:cs typeface="Georgia"/>
              </a:rPr>
              <a:t>, </a:t>
            </a:r>
            <a:r>
              <a:rPr lang="en-IN" sz="4000" spc="-10" dirty="0" err="1">
                <a:solidFill>
                  <a:srgbClr val="FFFF00"/>
                </a:solidFill>
                <a:latin typeface="Georgia"/>
                <a:cs typeface="Georgia"/>
              </a:rPr>
              <a:t>sarshti</a:t>
            </a:r>
            <a:r>
              <a:rPr lang="en-IN" sz="4000" spc="-10" dirty="0">
                <a:solidFill>
                  <a:srgbClr val="FFFF00"/>
                </a:solidFill>
                <a:latin typeface="Georgia"/>
                <a:cs typeface="Georgia"/>
              </a:rPr>
              <a:t> </a:t>
            </a:r>
            <a:r>
              <a:rPr lang="en-IN" sz="4000" spc="-10" dirty="0" err="1">
                <a:solidFill>
                  <a:srgbClr val="FFFF00"/>
                </a:solidFill>
                <a:latin typeface="Georgia"/>
                <a:cs typeface="Georgia"/>
              </a:rPr>
              <a:t>gour</a:t>
            </a:r>
            <a:r>
              <a:rPr lang="en-IN" sz="4000" spc="-10" dirty="0">
                <a:solidFill>
                  <a:srgbClr val="FFFF00"/>
                </a:solidFill>
                <a:latin typeface="Georgia"/>
                <a:cs typeface="Georgia"/>
              </a:rPr>
              <a:t>, Sanjana </a:t>
            </a:r>
            <a:r>
              <a:rPr lang="en-IN" sz="4000" spc="-10" dirty="0" err="1">
                <a:solidFill>
                  <a:srgbClr val="FFFF00"/>
                </a:solidFill>
                <a:latin typeface="Georgia"/>
                <a:cs typeface="Georgia"/>
              </a:rPr>
              <a:t>ahirwar</a:t>
            </a:r>
            <a:endParaRPr sz="4000" dirty="0">
              <a:solidFill>
                <a:srgbClr val="FFFF00"/>
              </a:solidFill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6992" y="303341"/>
            <a:ext cx="1285874" cy="12858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8955" y="6901749"/>
            <a:ext cx="1528554" cy="129845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200348" y="3725733"/>
            <a:ext cx="1087650" cy="18383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309666" y="8383153"/>
            <a:ext cx="895349" cy="77152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31495" y="347852"/>
            <a:ext cx="1190625" cy="1189990"/>
          </a:xfrm>
          <a:custGeom>
            <a:avLst/>
            <a:gdLst/>
            <a:ahLst/>
            <a:cxnLst/>
            <a:rect l="l" t="t" r="r" b="b"/>
            <a:pathLst>
              <a:path w="1190625" h="1189990">
                <a:moveTo>
                  <a:pt x="1190625" y="37134"/>
                </a:moveTo>
                <a:lnTo>
                  <a:pt x="1152702" y="37134"/>
                </a:lnTo>
                <a:lnTo>
                  <a:pt x="1152702" y="1152702"/>
                </a:lnTo>
                <a:lnTo>
                  <a:pt x="1190625" y="1152702"/>
                </a:lnTo>
                <a:lnTo>
                  <a:pt x="1190625" y="37134"/>
                </a:lnTo>
                <a:close/>
              </a:path>
              <a:path w="1190625" h="1189990">
                <a:moveTo>
                  <a:pt x="1190625" y="0"/>
                </a:moveTo>
                <a:lnTo>
                  <a:pt x="0" y="0"/>
                </a:lnTo>
                <a:lnTo>
                  <a:pt x="0" y="36830"/>
                </a:lnTo>
                <a:lnTo>
                  <a:pt x="0" y="1153160"/>
                </a:lnTo>
                <a:lnTo>
                  <a:pt x="0" y="1189990"/>
                </a:lnTo>
                <a:lnTo>
                  <a:pt x="1190625" y="1189990"/>
                </a:lnTo>
                <a:lnTo>
                  <a:pt x="1190625" y="1153160"/>
                </a:lnTo>
                <a:lnTo>
                  <a:pt x="37134" y="1153160"/>
                </a:lnTo>
                <a:lnTo>
                  <a:pt x="37134" y="36830"/>
                </a:lnTo>
                <a:lnTo>
                  <a:pt x="1190625" y="36830"/>
                </a:lnTo>
                <a:lnTo>
                  <a:pt x="1190625" y="0"/>
                </a:lnTo>
                <a:close/>
              </a:path>
            </a:pathLst>
          </a:custGeom>
          <a:solidFill>
            <a:srgbClr val="C7D0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715000" y="1142180"/>
            <a:ext cx="6514465" cy="89406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93065">
              <a:lnSpc>
                <a:spcPct val="100000"/>
              </a:lnSpc>
              <a:spcBef>
                <a:spcPts val="114"/>
              </a:spcBef>
            </a:pPr>
            <a:r>
              <a:rPr spc="200" dirty="0"/>
              <a:t>Problem</a:t>
            </a:r>
            <a:r>
              <a:rPr spc="-40" dirty="0"/>
              <a:t> </a:t>
            </a:r>
            <a:r>
              <a:rPr spc="180" dirty="0"/>
              <a:t>Description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B4C2B2-7800-41D3-BD23-70996CA8F283}"/>
              </a:ext>
            </a:extLst>
          </p:cNvPr>
          <p:cNvSpPr/>
          <p:nvPr/>
        </p:nvSpPr>
        <p:spPr>
          <a:xfrm>
            <a:off x="2310296" y="2338416"/>
            <a:ext cx="14466612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6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The Innovation Silo: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>
                <a:solidFill>
                  <a:schemeClr val="bg1"/>
                </a:solidFill>
                <a:latin typeface="+mn-lt"/>
              </a:rPr>
              <a:t>Students, startups, industry giants, and local communities all have valuable ideas and problems, but they operate in complete isolation.</a:t>
            </a:r>
          </a:p>
          <a:p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Resource Deficit:</a:t>
            </a:r>
            <a:r>
              <a:rPr lang="en-US" sz="3600" b="1" dirty="0">
                <a:solidFill>
                  <a:schemeClr val="accent6"/>
                </a:solidFill>
                <a:latin typeface="+mn-lt"/>
              </a:rPr>
              <a:t> </a:t>
            </a:r>
            <a:r>
              <a:rPr lang="en-US" sz="3600" b="1" dirty="0">
                <a:solidFill>
                  <a:schemeClr val="bg1"/>
                </a:solidFill>
                <a:latin typeface="+mn-lt"/>
              </a:rPr>
              <a:t>Brilliant ideas die because a student lacks funding, a startup lacks data, an industry lacks fresh talent, and a community lacks a technical platform.</a:t>
            </a:r>
          </a:p>
          <a:p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The Execution Void: </a:t>
            </a:r>
            <a:r>
              <a:rPr lang="en-US" sz="3600" b="1" dirty="0">
                <a:solidFill>
                  <a:schemeClr val="bg1"/>
                </a:solidFill>
                <a:latin typeface="+mn-lt"/>
              </a:rPr>
              <a:t>There is no single, unified marketplace to securely connect a local problem with the exact human knowledge and material resources needed to solve it.</a:t>
            </a:r>
          </a:p>
          <a:p>
            <a:endParaRPr lang="en-IN" sz="3600" dirty="0">
              <a:solidFill>
                <a:schemeClr val="bg1"/>
              </a:solidFill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C43A43D-3430-4E88-85FD-5DA4A780C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07776"/>
            <a:ext cx="1090042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Google Sans"/>
              </a:rPr>
              <a:t>The Innovation Silo: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Google Sans"/>
              </a:rPr>
              <a:t> Students, startups, industry giants, and local communities all have valuable ideas and problems, but they operate in complete isolation.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Google Sans"/>
              </a:rPr>
              <a:t>Resource Deficit: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Google Sans"/>
              </a:rPr>
              <a:t> Brilliant ideas die because a student lacks funding, a startup lacks data, an industry lacks fresh talent, and a community lacks a technical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Google Sans"/>
              </a:rPr>
              <a:t>The Execution Void: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Google Sans"/>
              </a:rPr>
              <a:t> There is no single, unified marketplace to securely connect a local problem with the exact human knowledge and material resources needed to solve it.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955" y="6901749"/>
            <a:ext cx="1528554" cy="129845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00348" y="3725733"/>
            <a:ext cx="1087650" cy="18383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309666" y="8383153"/>
            <a:ext cx="895349" cy="77152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86992" y="347852"/>
            <a:ext cx="1285875" cy="1325245"/>
            <a:chOff x="386992" y="347852"/>
            <a:chExt cx="1285875" cy="1325245"/>
          </a:xfrm>
        </p:grpSpPr>
        <p:sp>
          <p:nvSpPr>
            <p:cNvPr id="6" name="object 6"/>
            <p:cNvSpPr/>
            <p:nvPr/>
          </p:nvSpPr>
          <p:spPr>
            <a:xfrm>
              <a:off x="431495" y="347852"/>
              <a:ext cx="1190625" cy="1189990"/>
            </a:xfrm>
            <a:custGeom>
              <a:avLst/>
              <a:gdLst/>
              <a:ahLst/>
              <a:cxnLst/>
              <a:rect l="l" t="t" r="r" b="b"/>
              <a:pathLst>
                <a:path w="1190625" h="1189990">
                  <a:moveTo>
                    <a:pt x="1190625" y="37134"/>
                  </a:moveTo>
                  <a:lnTo>
                    <a:pt x="1152702" y="37134"/>
                  </a:lnTo>
                  <a:lnTo>
                    <a:pt x="1152702" y="1152702"/>
                  </a:lnTo>
                  <a:lnTo>
                    <a:pt x="1190625" y="1152702"/>
                  </a:lnTo>
                  <a:lnTo>
                    <a:pt x="1190625" y="37134"/>
                  </a:lnTo>
                  <a:close/>
                </a:path>
                <a:path w="1190625" h="1189990">
                  <a:moveTo>
                    <a:pt x="1190625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0" y="1153160"/>
                  </a:lnTo>
                  <a:lnTo>
                    <a:pt x="0" y="1189990"/>
                  </a:lnTo>
                  <a:lnTo>
                    <a:pt x="1190625" y="1189990"/>
                  </a:lnTo>
                  <a:lnTo>
                    <a:pt x="1190625" y="1153160"/>
                  </a:lnTo>
                  <a:lnTo>
                    <a:pt x="37134" y="1153160"/>
                  </a:lnTo>
                  <a:lnTo>
                    <a:pt x="37134" y="36830"/>
                  </a:lnTo>
                  <a:lnTo>
                    <a:pt x="1190625" y="36830"/>
                  </a:lnTo>
                  <a:lnTo>
                    <a:pt x="1190625" y="0"/>
                  </a:lnTo>
                  <a:close/>
                </a:path>
              </a:pathLst>
            </a:custGeom>
            <a:solidFill>
              <a:srgbClr val="C7D0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6992" y="386992"/>
              <a:ext cx="1285874" cy="1285874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5581967" y="643773"/>
            <a:ext cx="6514465" cy="89406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993264">
              <a:lnSpc>
                <a:spcPct val="100000"/>
              </a:lnSpc>
              <a:spcBef>
                <a:spcPts val="114"/>
              </a:spcBef>
            </a:pPr>
            <a:r>
              <a:rPr spc="180" dirty="0"/>
              <a:t>Solution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C9DA14-89C0-4E6C-B6F2-7BE3309C5D50}"/>
              </a:ext>
            </a:extLst>
          </p:cNvPr>
          <p:cNvSpPr/>
          <p:nvPr/>
        </p:nvSpPr>
        <p:spPr>
          <a:xfrm>
            <a:off x="3276600" y="2630334"/>
            <a:ext cx="126492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6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The Quadruple-Helix Network: </a:t>
            </a:r>
            <a:r>
              <a:rPr lang="en-US" sz="3600" b="1" dirty="0">
                <a:solidFill>
                  <a:schemeClr val="bg1"/>
                </a:solidFill>
                <a:latin typeface="+mn-lt"/>
              </a:rPr>
              <a:t>A decentralized open innovation hub linking four critical pillars: Students, Startups, Industry, and Communities.</a:t>
            </a:r>
          </a:p>
          <a:p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Dynamic Resource Pooling: </a:t>
            </a:r>
            <a:r>
              <a:rPr lang="en-US" sz="3600" b="1" dirty="0">
                <a:solidFill>
                  <a:schemeClr val="bg1"/>
                </a:solidFill>
                <a:latin typeface="+mn-lt"/>
              </a:rPr>
              <a:t>An intelligent platform where ideas are instantly matched with verified execution resources, academic knowledge bases, and corporate infrastructure.</a:t>
            </a:r>
          </a:p>
          <a:p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Frictionless Collaboration: </a:t>
            </a:r>
            <a:r>
              <a:rPr lang="en-US" sz="3600" b="1" dirty="0">
                <a:solidFill>
                  <a:schemeClr val="bg1"/>
                </a:solidFill>
                <a:latin typeface="+mn-lt"/>
              </a:rPr>
              <a:t>Breaking down walls to turn abstract concepts into tangible, deployable, real-world implementations.</a:t>
            </a:r>
          </a:p>
          <a:p>
            <a:endParaRPr lang="en-US" b="0" u="none" strike="noStrike" dirty="0">
              <a:solidFill>
                <a:schemeClr val="bg1"/>
              </a:solidFill>
              <a:effectLst/>
              <a:latin typeface="Google San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326D73-A48B-4E2C-A0B6-C8EE93477066}"/>
              </a:ext>
            </a:extLst>
          </p:cNvPr>
          <p:cNvSpPr/>
          <p:nvPr/>
        </p:nvSpPr>
        <p:spPr>
          <a:xfrm>
            <a:off x="4267199" y="1830227"/>
            <a:ext cx="9144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4400" dirty="0">
                <a:solidFill>
                  <a:schemeClr val="accent3">
                    <a:lumMod val="75000"/>
                  </a:schemeClr>
                </a:solidFill>
                <a:latin typeface="Google Sans"/>
              </a:rPr>
              <a:t>[</a:t>
            </a:r>
            <a:r>
              <a:rPr lang="en-US" sz="4400" dirty="0" err="1">
                <a:solidFill>
                  <a:schemeClr val="accent3">
                    <a:lumMod val="75000"/>
                  </a:schemeClr>
                </a:solidFill>
                <a:latin typeface="Google Sans"/>
              </a:rPr>
              <a:t>NexusOpen</a:t>
            </a:r>
            <a:r>
              <a:rPr lang="en-US" sz="4400" dirty="0">
                <a:solidFill>
                  <a:schemeClr val="accent3">
                    <a:lumMod val="75000"/>
                  </a:schemeClr>
                </a:solidFill>
                <a:latin typeface="Google Sans"/>
              </a:rPr>
              <a:t>]</a:t>
            </a:r>
            <a:endParaRPr lang="en-US" sz="4400" b="0" u="none" strike="noStrike" dirty="0">
              <a:solidFill>
                <a:schemeClr val="accent3">
                  <a:lumMod val="75000"/>
                </a:schemeClr>
              </a:solidFill>
              <a:effectLst/>
              <a:latin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6992" y="303341"/>
            <a:ext cx="1285874" cy="12858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8955" y="6901749"/>
            <a:ext cx="1528554" cy="129845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200348" y="3725733"/>
            <a:ext cx="1087650" cy="18383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309666" y="8453491"/>
            <a:ext cx="895349" cy="77152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31495" y="347852"/>
            <a:ext cx="1190625" cy="1189990"/>
          </a:xfrm>
          <a:custGeom>
            <a:avLst/>
            <a:gdLst/>
            <a:ahLst/>
            <a:cxnLst/>
            <a:rect l="l" t="t" r="r" b="b"/>
            <a:pathLst>
              <a:path w="1190625" h="1189990">
                <a:moveTo>
                  <a:pt x="1190625" y="37134"/>
                </a:moveTo>
                <a:lnTo>
                  <a:pt x="1152702" y="37134"/>
                </a:lnTo>
                <a:lnTo>
                  <a:pt x="1152702" y="1152702"/>
                </a:lnTo>
                <a:lnTo>
                  <a:pt x="1190625" y="1152702"/>
                </a:lnTo>
                <a:lnTo>
                  <a:pt x="1190625" y="37134"/>
                </a:lnTo>
                <a:close/>
              </a:path>
              <a:path w="1190625" h="1189990">
                <a:moveTo>
                  <a:pt x="1190625" y="0"/>
                </a:moveTo>
                <a:lnTo>
                  <a:pt x="0" y="0"/>
                </a:lnTo>
                <a:lnTo>
                  <a:pt x="0" y="36830"/>
                </a:lnTo>
                <a:lnTo>
                  <a:pt x="0" y="1153160"/>
                </a:lnTo>
                <a:lnTo>
                  <a:pt x="0" y="1189990"/>
                </a:lnTo>
                <a:lnTo>
                  <a:pt x="1190625" y="1189990"/>
                </a:lnTo>
                <a:lnTo>
                  <a:pt x="1190625" y="1153160"/>
                </a:lnTo>
                <a:lnTo>
                  <a:pt x="37134" y="1153160"/>
                </a:lnTo>
                <a:lnTo>
                  <a:pt x="37134" y="36830"/>
                </a:lnTo>
                <a:lnTo>
                  <a:pt x="1190625" y="36830"/>
                </a:lnTo>
                <a:lnTo>
                  <a:pt x="1190625" y="0"/>
                </a:lnTo>
                <a:close/>
              </a:path>
            </a:pathLst>
          </a:custGeom>
          <a:solidFill>
            <a:srgbClr val="C7D0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886767" y="347852"/>
            <a:ext cx="6514465" cy="89406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007110">
              <a:lnSpc>
                <a:spcPct val="100000"/>
              </a:lnSpc>
              <a:spcBef>
                <a:spcPts val="114"/>
              </a:spcBef>
            </a:pPr>
            <a:r>
              <a:rPr spc="160" dirty="0"/>
              <a:t>Flow</a:t>
            </a:r>
            <a:r>
              <a:rPr spc="-175" dirty="0"/>
              <a:t> </a:t>
            </a:r>
            <a:r>
              <a:rPr spc="150" dirty="0"/>
              <a:t>of</a:t>
            </a:r>
            <a:r>
              <a:rPr spc="-35" dirty="0"/>
              <a:t> </a:t>
            </a:r>
            <a:r>
              <a:rPr spc="204" dirty="0"/>
              <a:t>solution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C55AD6C-5C61-490C-89D1-C656CCFB5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874906"/>
            <a:ext cx="13030200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+mn-lt"/>
              </a:rPr>
              <a:t>Step 1 (The Post):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A community or industry posts a real challenge (e.g., </a:t>
            </a:r>
            <a:r>
              <a:rPr kumimoji="0" lang="en-US" altLang="en-US" sz="3600" b="1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"Our local farm needs an automated crop water-level tracking script"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+mn-lt"/>
              </a:rPr>
              <a:t>Step 2 (The Collaboration Assembly): </a:t>
            </a: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NexusOpen's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matching engine pairs the problem with an agile Startup to manage it, a corporate Industry partner to fund the hardware, and enthusiastic Students to code 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+mn-lt"/>
              </a:rPr>
              <a:t>Step 3(The Deployment):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The platform serves as a shared, transparent dashboard providing documentation, open-source code repositories, and project tracking to launch a real solution.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992" y="386992"/>
            <a:ext cx="1285874" cy="12858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68619" y="8649055"/>
            <a:ext cx="895349" cy="7715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8955" y="6901749"/>
            <a:ext cx="1528554" cy="129845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259300" y="3716016"/>
            <a:ext cx="1028699" cy="183832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31495" y="431507"/>
            <a:ext cx="1190625" cy="1189990"/>
          </a:xfrm>
          <a:custGeom>
            <a:avLst/>
            <a:gdLst/>
            <a:ahLst/>
            <a:cxnLst/>
            <a:rect l="l" t="t" r="r" b="b"/>
            <a:pathLst>
              <a:path w="1190625" h="1189990">
                <a:moveTo>
                  <a:pt x="1190625" y="37134"/>
                </a:moveTo>
                <a:lnTo>
                  <a:pt x="1152702" y="37134"/>
                </a:lnTo>
                <a:lnTo>
                  <a:pt x="1152702" y="1152702"/>
                </a:lnTo>
                <a:lnTo>
                  <a:pt x="1190625" y="1152702"/>
                </a:lnTo>
                <a:lnTo>
                  <a:pt x="1190625" y="37134"/>
                </a:lnTo>
                <a:close/>
              </a:path>
              <a:path w="1190625" h="1189990">
                <a:moveTo>
                  <a:pt x="1190625" y="0"/>
                </a:moveTo>
                <a:lnTo>
                  <a:pt x="0" y="0"/>
                </a:lnTo>
                <a:lnTo>
                  <a:pt x="0" y="36830"/>
                </a:lnTo>
                <a:lnTo>
                  <a:pt x="0" y="1153160"/>
                </a:lnTo>
                <a:lnTo>
                  <a:pt x="0" y="1189990"/>
                </a:lnTo>
                <a:lnTo>
                  <a:pt x="1190625" y="1189990"/>
                </a:lnTo>
                <a:lnTo>
                  <a:pt x="1190625" y="1153160"/>
                </a:lnTo>
                <a:lnTo>
                  <a:pt x="37134" y="1153160"/>
                </a:lnTo>
                <a:lnTo>
                  <a:pt x="37134" y="36830"/>
                </a:lnTo>
                <a:lnTo>
                  <a:pt x="1190625" y="36830"/>
                </a:lnTo>
                <a:lnTo>
                  <a:pt x="1190625" y="0"/>
                </a:lnTo>
                <a:close/>
              </a:path>
            </a:pathLst>
          </a:custGeom>
          <a:solidFill>
            <a:srgbClr val="C7D0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772467" y="579467"/>
            <a:ext cx="6514465" cy="894069"/>
          </a:xfrm>
          <a:prstGeom prst="rect">
            <a:avLst/>
          </a:prstGeom>
        </p:spPr>
        <p:txBody>
          <a:bodyPr vert="horz" wrap="square" lIns="0" tIns="98367" rIns="0" bIns="0" rtlCol="0">
            <a:spAutoFit/>
          </a:bodyPr>
          <a:lstStyle/>
          <a:p>
            <a:pPr marL="814705">
              <a:lnSpc>
                <a:spcPct val="100000"/>
              </a:lnSpc>
              <a:spcBef>
                <a:spcPts val="120"/>
              </a:spcBef>
            </a:pPr>
            <a:r>
              <a:rPr spc="150" dirty="0"/>
              <a:t>Technology</a:t>
            </a:r>
            <a:r>
              <a:rPr spc="-135" dirty="0"/>
              <a:t> </a:t>
            </a:r>
            <a:r>
              <a:rPr spc="155" dirty="0"/>
              <a:t>Used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ECC59F-2122-452F-ADB0-D7FC8E539658}"/>
              </a:ext>
            </a:extLst>
          </p:cNvPr>
          <p:cNvSpPr/>
          <p:nvPr/>
        </p:nvSpPr>
        <p:spPr>
          <a:xfrm>
            <a:off x="3276600" y="2393232"/>
            <a:ext cx="115062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b="1" u="none" strike="noStrike" dirty="0">
                <a:solidFill>
                  <a:schemeClr val="accent6">
                    <a:lumMod val="75000"/>
                  </a:schemeClr>
                </a:solidFill>
                <a:effectLst/>
                <a:latin typeface="+mn-lt"/>
              </a:rPr>
              <a:t>Smart Matching Graphs: </a:t>
            </a:r>
            <a:r>
              <a:rPr lang="en-US" sz="3600" b="1" u="none" strike="noStrike" dirty="0">
                <a:solidFill>
                  <a:schemeClr val="bg1"/>
                </a:solidFill>
                <a:effectLst/>
                <a:latin typeface="+mn-lt"/>
              </a:rPr>
              <a:t>Utilizing open data relationship mapping to automatically connect resource providers with resource seekers.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u="none" strike="noStrike" dirty="0">
                <a:solidFill>
                  <a:schemeClr val="accent6">
                    <a:lumMod val="75000"/>
                  </a:schemeClr>
                </a:solidFill>
                <a:effectLst/>
                <a:latin typeface="+mn-lt"/>
              </a:rPr>
              <a:t>Unified Collaboration Dashboards: </a:t>
            </a:r>
            <a:r>
              <a:rPr lang="en-US" sz="3600" b="1" u="none" strike="noStrike" dirty="0">
                <a:solidFill>
                  <a:schemeClr val="bg1"/>
                </a:solidFill>
                <a:effectLst/>
                <a:latin typeface="+mn-lt"/>
              </a:rPr>
              <a:t>A cloud-based, modern workspace consolidating live communication tools and task tracking into one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u="none" strike="noStrike" dirty="0">
                <a:solidFill>
                  <a:schemeClr val="accent6">
                    <a:lumMod val="75000"/>
                  </a:schemeClr>
                </a:solidFill>
                <a:effectLst/>
                <a:latin typeface="+mn-lt"/>
              </a:rPr>
              <a:t>Scalable Web Infrastructure: </a:t>
            </a:r>
            <a:r>
              <a:rPr lang="en-US" sz="3600" b="1" u="none" strike="noStrike" dirty="0">
                <a:solidFill>
                  <a:schemeClr val="bg1"/>
                </a:solidFill>
                <a:effectLst/>
                <a:latin typeface="+mn-lt"/>
              </a:rPr>
              <a:t>Built on standard web frameworks optimized for low-bandwidth, secure, and cross-platform access.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86767" y="579467"/>
            <a:ext cx="6514465" cy="894069"/>
          </a:xfrm>
          <a:prstGeom prst="rect">
            <a:avLst/>
          </a:prstGeom>
        </p:spPr>
        <p:txBody>
          <a:bodyPr vert="horz" wrap="square" lIns="0" tIns="98255" rIns="0" bIns="0" rtlCol="0">
            <a:spAutoFit/>
          </a:bodyPr>
          <a:lstStyle/>
          <a:p>
            <a:pPr marL="435609">
              <a:lnSpc>
                <a:spcPct val="100000"/>
              </a:lnSpc>
              <a:spcBef>
                <a:spcPts val="114"/>
              </a:spcBef>
            </a:pPr>
            <a:r>
              <a:rPr spc="190" dirty="0"/>
              <a:t>Impact</a:t>
            </a:r>
            <a:r>
              <a:rPr spc="-35" dirty="0"/>
              <a:t> </a:t>
            </a:r>
            <a:r>
              <a:rPr spc="-440" dirty="0"/>
              <a:t>&amp;</a:t>
            </a:r>
            <a:r>
              <a:rPr spc="-30" dirty="0"/>
              <a:t> </a:t>
            </a:r>
            <a:r>
              <a:rPr spc="90" dirty="0"/>
              <a:t>Feasibility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52360" y="8488768"/>
            <a:ext cx="895349" cy="7715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9455" y="6840999"/>
            <a:ext cx="1528554" cy="129845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259300" y="3652044"/>
            <a:ext cx="1028699" cy="183832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86992" y="386992"/>
            <a:ext cx="1285875" cy="1285875"/>
            <a:chOff x="386992" y="386992"/>
            <a:chExt cx="1285875" cy="1285875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6992" y="386992"/>
              <a:ext cx="1285874" cy="128587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6981" y="431507"/>
              <a:ext cx="1190625" cy="1189990"/>
            </a:xfrm>
            <a:custGeom>
              <a:avLst/>
              <a:gdLst/>
              <a:ahLst/>
              <a:cxnLst/>
              <a:rect l="l" t="t" r="r" b="b"/>
              <a:pathLst>
                <a:path w="1190625" h="1189990">
                  <a:moveTo>
                    <a:pt x="1190625" y="37134"/>
                  </a:moveTo>
                  <a:lnTo>
                    <a:pt x="1152702" y="37134"/>
                  </a:lnTo>
                  <a:lnTo>
                    <a:pt x="1152702" y="1152702"/>
                  </a:lnTo>
                  <a:lnTo>
                    <a:pt x="1190625" y="1152702"/>
                  </a:lnTo>
                  <a:lnTo>
                    <a:pt x="1190625" y="37134"/>
                  </a:lnTo>
                  <a:close/>
                </a:path>
                <a:path w="1190625" h="1189990">
                  <a:moveTo>
                    <a:pt x="1190625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0" y="1153160"/>
                  </a:lnTo>
                  <a:lnTo>
                    <a:pt x="0" y="1189990"/>
                  </a:lnTo>
                  <a:lnTo>
                    <a:pt x="1190625" y="1189990"/>
                  </a:lnTo>
                  <a:lnTo>
                    <a:pt x="1190625" y="1153160"/>
                  </a:lnTo>
                  <a:lnTo>
                    <a:pt x="37134" y="1153160"/>
                  </a:lnTo>
                  <a:lnTo>
                    <a:pt x="37134" y="36830"/>
                  </a:lnTo>
                  <a:lnTo>
                    <a:pt x="1190625" y="36830"/>
                  </a:lnTo>
                  <a:lnTo>
                    <a:pt x="1190625" y="0"/>
                  </a:lnTo>
                  <a:close/>
                </a:path>
              </a:pathLst>
            </a:custGeom>
            <a:solidFill>
              <a:srgbClr val="C7D0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609700" y="2228904"/>
            <a:ext cx="13276791" cy="500072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Accelerated Innovation Cycles: </a:t>
            </a:r>
            <a:r>
              <a:rPr lang="en-US" sz="3600" b="1" dirty="0">
                <a:solidFill>
                  <a:schemeClr val="bg1"/>
                </a:solidFill>
                <a:latin typeface="+mn-lt"/>
              </a:rPr>
              <a:t>Cuts down product development time from months to weeks by crowd-sourcing solutions from ready talent.</a:t>
            </a:r>
          </a:p>
          <a:p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Economic &amp; Social Upliftment: </a:t>
            </a:r>
            <a:r>
              <a:rPr lang="en-US" sz="3600" b="1" dirty="0">
                <a:solidFill>
                  <a:schemeClr val="bg1"/>
                </a:solidFill>
                <a:latin typeface="+mn-lt"/>
              </a:rPr>
              <a:t>Solves real, painful grassroots community problems while simultaneously creating high-impact internships for students.</a:t>
            </a:r>
          </a:p>
          <a:p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Low Operational Barrier: </a:t>
            </a:r>
            <a:r>
              <a:rPr lang="en-US" sz="3600" b="1" dirty="0">
                <a:solidFill>
                  <a:schemeClr val="bg1"/>
                </a:solidFill>
                <a:latin typeface="+mn-lt"/>
              </a:rPr>
              <a:t>Relies entirely on connecting </a:t>
            </a:r>
            <a:r>
              <a:rPr lang="en-US" sz="3600" b="1" i="1" dirty="0">
                <a:solidFill>
                  <a:schemeClr val="bg1"/>
                </a:solidFill>
                <a:latin typeface="+mn-lt"/>
              </a:rPr>
              <a:t>existing</a:t>
            </a:r>
            <a:r>
              <a:rPr lang="en-US" sz="3600" b="1" dirty="0">
                <a:solidFill>
                  <a:schemeClr val="bg1"/>
                </a:solidFill>
                <a:latin typeface="+mn-lt"/>
              </a:rPr>
              <a:t> assets (unused industry servers, student free-time, startup agility) making it highly cost-effective and feasible.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589180" y="152849"/>
            <a:ext cx="6514465" cy="894069"/>
          </a:xfrm>
          <a:prstGeom prst="rect">
            <a:avLst/>
          </a:prstGeom>
        </p:spPr>
        <p:txBody>
          <a:bodyPr vert="horz" wrap="square" lIns="0" tIns="95239" rIns="0" bIns="0" rtlCol="0">
            <a:spAutoFit/>
          </a:bodyPr>
          <a:lstStyle/>
          <a:p>
            <a:pPr marL="1769745">
              <a:lnSpc>
                <a:spcPct val="100000"/>
              </a:lnSpc>
              <a:spcBef>
                <a:spcPts val="135"/>
              </a:spcBef>
            </a:pPr>
            <a:r>
              <a:rPr sz="5150" spc="160" dirty="0"/>
              <a:t>Prototype</a:t>
            </a:r>
            <a:endParaRPr sz="515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25085" y="8488768"/>
            <a:ext cx="895349" cy="7715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8955" y="6901749"/>
            <a:ext cx="1528554" cy="129845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259300" y="3652044"/>
            <a:ext cx="1028699" cy="183832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86992" y="386992"/>
            <a:ext cx="1285875" cy="1285875"/>
            <a:chOff x="386992" y="386992"/>
            <a:chExt cx="1285875" cy="1285875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6992" y="386992"/>
              <a:ext cx="1285874" cy="128587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6981" y="431507"/>
              <a:ext cx="1190625" cy="1189990"/>
            </a:xfrm>
            <a:custGeom>
              <a:avLst/>
              <a:gdLst/>
              <a:ahLst/>
              <a:cxnLst/>
              <a:rect l="l" t="t" r="r" b="b"/>
              <a:pathLst>
                <a:path w="1190625" h="1189990">
                  <a:moveTo>
                    <a:pt x="1190625" y="37134"/>
                  </a:moveTo>
                  <a:lnTo>
                    <a:pt x="1152702" y="37134"/>
                  </a:lnTo>
                  <a:lnTo>
                    <a:pt x="1152702" y="1152702"/>
                  </a:lnTo>
                  <a:lnTo>
                    <a:pt x="1190625" y="1152702"/>
                  </a:lnTo>
                  <a:lnTo>
                    <a:pt x="1190625" y="37134"/>
                  </a:lnTo>
                  <a:close/>
                </a:path>
                <a:path w="1190625" h="1189990">
                  <a:moveTo>
                    <a:pt x="1190625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0" y="1153160"/>
                  </a:lnTo>
                  <a:lnTo>
                    <a:pt x="0" y="1189990"/>
                  </a:lnTo>
                  <a:lnTo>
                    <a:pt x="1190625" y="1189990"/>
                  </a:lnTo>
                  <a:lnTo>
                    <a:pt x="1190625" y="1153160"/>
                  </a:lnTo>
                  <a:lnTo>
                    <a:pt x="37134" y="1153160"/>
                  </a:lnTo>
                  <a:lnTo>
                    <a:pt x="37134" y="36830"/>
                  </a:lnTo>
                  <a:lnTo>
                    <a:pt x="1190625" y="36830"/>
                  </a:lnTo>
                  <a:lnTo>
                    <a:pt x="1190625" y="0"/>
                  </a:lnTo>
                  <a:close/>
                </a:path>
              </a:pathLst>
            </a:custGeom>
            <a:solidFill>
              <a:srgbClr val="C7D0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5010F57B-87D1-40D8-8CF0-F61BBF3F6AE0}"/>
              </a:ext>
            </a:extLst>
          </p:cNvPr>
          <p:cNvSpPr/>
          <p:nvPr/>
        </p:nvSpPr>
        <p:spPr>
          <a:xfrm>
            <a:off x="5275215" y="8614134"/>
            <a:ext cx="9144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b="0" u="none" strike="noStrike" dirty="0">
              <a:solidFill>
                <a:schemeClr val="bg1"/>
              </a:solidFill>
              <a:effectLst/>
              <a:latin typeface="Google San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5B7F87-1919-4AE5-BE51-B2826EF0C1F1}"/>
              </a:ext>
            </a:extLst>
          </p:cNvPr>
          <p:cNvSpPr/>
          <p:nvPr/>
        </p:nvSpPr>
        <p:spPr>
          <a:xfrm>
            <a:off x="5589180" y="49588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5F12EF7-FA2A-4D64-A368-7247AA0FD7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822171"/>
            <a:ext cx="15087600" cy="7315199"/>
          </a:xfrm>
          <a:prstGeom prst="rect">
            <a:avLst/>
          </a:prstGeom>
        </p:spPr>
      </p:pic>
      <p:sp>
        <p:nvSpPr>
          <p:cNvPr id="13" name="Rectangle 1">
            <a:extLst>
              <a:ext uri="{FF2B5EF4-FFF2-40B4-BE49-F238E27FC236}">
                <a16:creationId xmlns:a16="http://schemas.microsoft.com/office/drawing/2014/main" id="{EB0D5983-518F-4535-B578-20C9EC893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0832"/>
            <a:ext cx="47320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Google Sans"/>
              </a:rPr>
              <a:t>Figure 1.0: Conceptual Product UI Mockup for architectural visualization.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C261E1B0-AE51-42B1-9887-2677FB7BC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Figure 1.0: Conceptual Product UI Mockup for architectural visualization.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6D2E1A-F8FC-44C3-A839-776482E2FDDE}"/>
              </a:ext>
            </a:extLst>
          </p:cNvPr>
          <p:cNvSpPr/>
          <p:nvPr/>
        </p:nvSpPr>
        <p:spPr>
          <a:xfrm>
            <a:off x="5247169" y="9308148"/>
            <a:ext cx="84032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Figure 1.0: Conceptual Product UI Mockup for architectural visualization.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486400" y="1029929"/>
            <a:ext cx="6514465" cy="894069"/>
          </a:xfrm>
          <a:prstGeom prst="rect">
            <a:avLst/>
          </a:prstGeom>
        </p:spPr>
        <p:txBody>
          <a:bodyPr vert="horz" wrap="square" lIns="0" tIns="98255" rIns="0" bIns="0" rtlCol="0">
            <a:spAutoFit/>
          </a:bodyPr>
          <a:lstStyle/>
          <a:p>
            <a:pPr marL="1447800">
              <a:lnSpc>
                <a:spcPct val="100000"/>
              </a:lnSpc>
              <a:spcBef>
                <a:spcPts val="114"/>
              </a:spcBef>
            </a:pPr>
            <a:r>
              <a:rPr spc="85" dirty="0"/>
              <a:t>Future</a:t>
            </a:r>
            <a:r>
              <a:rPr spc="-45" dirty="0"/>
              <a:t> </a:t>
            </a:r>
            <a:r>
              <a:rPr spc="254" dirty="0"/>
              <a:t>scope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955" y="6901749"/>
            <a:ext cx="1528554" cy="129845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13709" y="8488768"/>
            <a:ext cx="895349" cy="7715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259300" y="3652044"/>
            <a:ext cx="1028699" cy="183832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86992" y="386992"/>
            <a:ext cx="1285875" cy="1285875"/>
            <a:chOff x="386992" y="386992"/>
            <a:chExt cx="1285875" cy="1285875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6992" y="386992"/>
              <a:ext cx="1285874" cy="128587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31495" y="386993"/>
              <a:ext cx="1190625" cy="1189990"/>
            </a:xfrm>
            <a:custGeom>
              <a:avLst/>
              <a:gdLst/>
              <a:ahLst/>
              <a:cxnLst/>
              <a:rect l="l" t="t" r="r" b="b"/>
              <a:pathLst>
                <a:path w="1190625" h="1189990">
                  <a:moveTo>
                    <a:pt x="1190625" y="37134"/>
                  </a:moveTo>
                  <a:lnTo>
                    <a:pt x="1152702" y="37134"/>
                  </a:lnTo>
                  <a:lnTo>
                    <a:pt x="1152702" y="1152702"/>
                  </a:lnTo>
                  <a:lnTo>
                    <a:pt x="1190625" y="1152702"/>
                  </a:lnTo>
                  <a:lnTo>
                    <a:pt x="1190625" y="37134"/>
                  </a:lnTo>
                  <a:close/>
                </a:path>
                <a:path w="1190625" h="1189990">
                  <a:moveTo>
                    <a:pt x="1190625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0" y="1153160"/>
                  </a:lnTo>
                  <a:lnTo>
                    <a:pt x="0" y="1189990"/>
                  </a:lnTo>
                  <a:lnTo>
                    <a:pt x="1190625" y="1189990"/>
                  </a:lnTo>
                  <a:lnTo>
                    <a:pt x="1190625" y="1153160"/>
                  </a:lnTo>
                  <a:lnTo>
                    <a:pt x="37134" y="1153160"/>
                  </a:lnTo>
                  <a:lnTo>
                    <a:pt x="37134" y="36830"/>
                  </a:lnTo>
                  <a:lnTo>
                    <a:pt x="1190625" y="36830"/>
                  </a:lnTo>
                  <a:lnTo>
                    <a:pt x="1190625" y="0"/>
                  </a:lnTo>
                  <a:close/>
                </a:path>
              </a:pathLst>
            </a:custGeom>
            <a:solidFill>
              <a:srgbClr val="C7D0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Rectangle 1">
            <a:extLst>
              <a:ext uri="{FF2B5EF4-FFF2-40B4-BE49-F238E27FC236}">
                <a16:creationId xmlns:a16="http://schemas.microsoft.com/office/drawing/2014/main" id="{ED10A9FA-3B3B-4C5E-989C-B1625F47C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1923998"/>
            <a:ext cx="12496800" cy="5297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28490" rIns="0" bIns="42849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Google Sans"/>
              </a:rPr>
              <a:t>Cross-Border Innovation Exchanges: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"/>
              </a:rPr>
              <a:t>Scaling the localized platform to support nationwide public-private partnership challenges.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Google Sans"/>
              </a:rPr>
              <a:t>AI Matchmaking Upgrades: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"/>
              </a:rPr>
              <a:t>Integrating machine learning algorithms to predict and auto-allocate structural funding based on historical project success rates.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8FD715D4-16BA-4495-A982-238A8BA66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76728"/>
            <a:ext cx="184731" cy="369332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754806" y="2330349"/>
            <a:ext cx="4174490" cy="842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350" spc="-165" dirty="0"/>
              <a:t>THANK</a:t>
            </a:r>
            <a:r>
              <a:rPr sz="5350" spc="-225" dirty="0"/>
              <a:t> </a:t>
            </a:r>
            <a:r>
              <a:rPr sz="5350" spc="-300" dirty="0"/>
              <a:t>YOU!</a:t>
            </a:r>
            <a:endParaRPr sz="53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54211" y="8416177"/>
            <a:ext cx="895349" cy="7715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8955" y="6901749"/>
            <a:ext cx="1528554" cy="129845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259300" y="3652044"/>
            <a:ext cx="1028699" cy="183832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86992" y="386992"/>
            <a:ext cx="1285875" cy="1285875"/>
            <a:chOff x="386992" y="386992"/>
            <a:chExt cx="1285875" cy="1285875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6992" y="386992"/>
              <a:ext cx="1285874" cy="128587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31495" y="476020"/>
              <a:ext cx="1190625" cy="1189990"/>
            </a:xfrm>
            <a:custGeom>
              <a:avLst/>
              <a:gdLst/>
              <a:ahLst/>
              <a:cxnLst/>
              <a:rect l="l" t="t" r="r" b="b"/>
              <a:pathLst>
                <a:path w="1190625" h="1189989">
                  <a:moveTo>
                    <a:pt x="1190625" y="37134"/>
                  </a:moveTo>
                  <a:lnTo>
                    <a:pt x="1152702" y="37134"/>
                  </a:lnTo>
                  <a:lnTo>
                    <a:pt x="1152702" y="1152702"/>
                  </a:lnTo>
                  <a:lnTo>
                    <a:pt x="1190625" y="1152702"/>
                  </a:lnTo>
                  <a:lnTo>
                    <a:pt x="1190625" y="37134"/>
                  </a:lnTo>
                  <a:close/>
                </a:path>
                <a:path w="1190625" h="1189989">
                  <a:moveTo>
                    <a:pt x="1190625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0" y="1153160"/>
                  </a:lnTo>
                  <a:lnTo>
                    <a:pt x="0" y="1189990"/>
                  </a:lnTo>
                  <a:lnTo>
                    <a:pt x="1190625" y="1189990"/>
                  </a:lnTo>
                  <a:lnTo>
                    <a:pt x="1190625" y="1153160"/>
                  </a:lnTo>
                  <a:lnTo>
                    <a:pt x="37134" y="1153160"/>
                  </a:lnTo>
                  <a:lnTo>
                    <a:pt x="37134" y="36830"/>
                  </a:lnTo>
                  <a:lnTo>
                    <a:pt x="1190625" y="36830"/>
                  </a:lnTo>
                  <a:lnTo>
                    <a:pt x="1190625" y="0"/>
                  </a:lnTo>
                  <a:close/>
                </a:path>
              </a:pathLst>
            </a:custGeom>
            <a:solidFill>
              <a:srgbClr val="C7D0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xfrm>
            <a:off x="431496" y="3769165"/>
            <a:ext cx="17704104" cy="531100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16700"/>
              </a:lnSpc>
              <a:spcBef>
                <a:spcPts val="95"/>
              </a:spcBef>
            </a:pPr>
            <a:r>
              <a:rPr lang="en-US" sz="4400" dirty="0" err="1">
                <a:solidFill>
                  <a:schemeClr val="accent5"/>
                </a:solidFill>
                <a:latin typeface="+mn-lt"/>
              </a:rPr>
              <a:t>NexusOpen</a:t>
            </a:r>
            <a:r>
              <a:rPr lang="en-US" sz="4400" dirty="0">
                <a:solidFill>
                  <a:schemeClr val="accent5"/>
                </a:solidFill>
                <a:latin typeface="+mn-lt"/>
              </a:rPr>
              <a:t>: </a:t>
            </a:r>
            <a:r>
              <a:rPr lang="en-US" sz="4000" dirty="0">
                <a:latin typeface="+mn-lt"/>
              </a:rPr>
              <a:t>Bridging the Gap Between Ideas &amp; Implementation</a:t>
            </a:r>
          </a:p>
          <a:p>
            <a:pPr marL="12065" marR="5080" algn="ctr">
              <a:lnSpc>
                <a:spcPct val="116700"/>
              </a:lnSpc>
              <a:spcBef>
                <a:spcPts val="95"/>
              </a:spcBef>
            </a:pPr>
            <a:r>
              <a:rPr lang="en-US" sz="4000" dirty="0">
                <a:latin typeface="+mn-lt"/>
              </a:rPr>
              <a:t> Presented by: Team Syntax Error</a:t>
            </a:r>
          </a:p>
          <a:p>
            <a:pPr marL="12065" marR="5080" algn="ctr">
              <a:lnSpc>
                <a:spcPct val="116700"/>
              </a:lnSpc>
              <a:spcBef>
                <a:spcPts val="95"/>
              </a:spcBef>
            </a:pPr>
            <a:endParaRPr lang="en-US" sz="4000" dirty="0">
              <a:latin typeface="+mn-lt"/>
            </a:endParaRPr>
          </a:p>
          <a:p>
            <a:pPr marL="12065" marR="5080" algn="l">
              <a:lnSpc>
                <a:spcPct val="116700"/>
              </a:lnSpc>
              <a:spcBef>
                <a:spcPts val="95"/>
              </a:spcBef>
            </a:pPr>
            <a:endParaRPr lang="en-US" sz="4000" dirty="0">
              <a:latin typeface="+mn-lt"/>
            </a:endParaRPr>
          </a:p>
          <a:p>
            <a:pPr marL="12065" marR="5080" algn="l">
              <a:lnSpc>
                <a:spcPct val="116700"/>
              </a:lnSpc>
              <a:spcBef>
                <a:spcPts val="95"/>
              </a:spcBef>
            </a:pPr>
            <a:r>
              <a:rPr lang="en-US" sz="3200" dirty="0">
                <a:latin typeface="+mn-lt"/>
              </a:rPr>
              <a:t>Email: snehaparmar1309@gmail.com </a:t>
            </a:r>
          </a:p>
          <a:p>
            <a:pPr marL="12065" marR="5080" algn="l">
              <a:lnSpc>
                <a:spcPct val="116700"/>
              </a:lnSpc>
              <a:spcBef>
                <a:spcPts val="95"/>
              </a:spcBef>
            </a:pPr>
            <a:r>
              <a:rPr lang="en-US" sz="3200" dirty="0" err="1">
                <a:latin typeface="+mn-lt"/>
              </a:rPr>
              <a:t>Github</a:t>
            </a:r>
            <a:r>
              <a:rPr lang="en-US" sz="3200" dirty="0">
                <a:latin typeface="+mn-lt"/>
              </a:rPr>
              <a:t> repository : https://github.com/snehaparmar005/NexusOpen</a:t>
            </a:r>
          </a:p>
          <a:p>
            <a:pPr marL="12065" marR="5080" algn="l">
              <a:lnSpc>
                <a:spcPct val="116700"/>
              </a:lnSpc>
              <a:spcBef>
                <a:spcPts val="95"/>
              </a:spcBef>
            </a:pPr>
            <a:r>
              <a:rPr lang="en-US" sz="3200" dirty="0" err="1">
                <a:latin typeface="+mn-lt"/>
                <a:cs typeface="Verdana"/>
              </a:rPr>
              <a:t>Videopitch:https</a:t>
            </a:r>
            <a:r>
              <a:rPr lang="en-US" sz="3200" dirty="0">
                <a:latin typeface="+mn-lt"/>
                <a:cs typeface="Verdana"/>
              </a:rPr>
              <a:t>://drive.google.com/drive/folders/1HI5ucTgWbqde9rW_x_UYRRQ3QNwhaO7N?usp=drive_link</a:t>
            </a:r>
            <a:endParaRPr sz="3200" dirty="0">
              <a:latin typeface="+mn-lt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</TotalTime>
  <Words>648</Words>
  <Application>Microsoft Office PowerPoint</Application>
  <PresentationFormat>Custom</PresentationFormat>
  <Paragraphs>50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Arial MT</vt:lpstr>
      <vt:lpstr>Calibri</vt:lpstr>
      <vt:lpstr>Georgia</vt:lpstr>
      <vt:lpstr>Google Sans</vt:lpstr>
      <vt:lpstr>Lucida Sans Unicode</vt:lpstr>
      <vt:lpstr>Times New Roman</vt:lpstr>
      <vt:lpstr>Verdana</vt:lpstr>
      <vt:lpstr>Office Theme</vt:lpstr>
      <vt:lpstr>H A Ġ K</vt:lpstr>
      <vt:lpstr>Problem Description</vt:lpstr>
      <vt:lpstr>Solution</vt:lpstr>
      <vt:lpstr>Flow of solution</vt:lpstr>
      <vt:lpstr>Technology Used</vt:lpstr>
      <vt:lpstr>Impact &amp; Feasibility</vt:lpstr>
      <vt:lpstr>Prototype</vt:lpstr>
      <vt:lpstr>Future scope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TEMPLATE</dc:title>
  <dc:creator>SUHANI CHOUDHARY</dc:creator>
  <cp:keywords>DAHPdmHPZ90,BAFg09f0w9A</cp:keywords>
  <cp:lastModifiedBy>HP</cp:lastModifiedBy>
  <cp:revision>16</cp:revision>
  <dcterms:created xsi:type="dcterms:W3CDTF">2026-08-23T11:27:57Z</dcterms:created>
  <dcterms:modified xsi:type="dcterms:W3CDTF">2026-08-23T17:30:16Z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2026-07-17T00:00:00Z</vt:filetime>
  </property>
  <property fmtid="{D5CDD505-2E9C-101B-9397-08002B2CF9AE}" pid="4" name="Creator">
    <vt:lpwstr>Canva</vt:lpwstr>
  </property>
  <property fmtid="{D5CDD505-2E9C-101B-9397-08002B2CF9AE}" pid="5" name="LastSaved">
    <vt:filetime>2026-08-23T00:00:00Z</vt:filetime>
  </property>
  <property fmtid="{D5CDD505-2E9C-101B-9397-08002B2CF9AE}" pid="6" name="Producer">
    <vt:lpwstr>Canva</vt:lpwstr>
  </property>
</Properties>
</file>